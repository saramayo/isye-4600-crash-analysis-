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Predicting Crash Severity in
Autonomous Vehicle Incidents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520440"/>
            <a:ext cx="48463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6E4F0"/>
                </a:solidFill>
              </a:rPr>
              <a:t>ISYE 4600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6E4F0"/>
                </a:solidFill>
              </a:rPr>
              <a:t>Santiago Aramayo Velasco  ·  Lauren McDonald  ·  Luis Velez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</a:rPr>
              <a:t>Georgia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99032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59A2E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2704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Problem Statement &amp; Stakeholders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59A2E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8716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Data &amp; Severity Label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3756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319272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59A2E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472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Train / Test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9768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4279392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59A2E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0740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Methods — Baselines to XGBoost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25780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5239512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59A2E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36752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Results — Stratified Models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41732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399032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59A2E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52704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False Negative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37744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2359152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59A2E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48716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Crash Scenario Clusters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33756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3319272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59A2E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4472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System Recommendations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29768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4279392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59A2E"/>
                </a:solidFill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40740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</a:rPr>
              <a:t>What are we predicting, and why does it matter?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C59A2E"/>
                </a:solidFill>
              </a:rPr>
              <a:t>•  </a:t>
            </a:r>
            <a:r>
              <a:rPr sz="1600">
                <a:solidFill>
                  <a:srgbClr val="1A1A2E"/>
                </a:solidFill>
              </a:rPr>
              <a:t>NHTSA requires AV operators to report every crash — but not all crashes are equal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C59A2E"/>
                </a:solidFill>
              </a:rPr>
              <a:t>•  </a:t>
            </a:r>
            <a:r>
              <a:rPr sz="1600">
                <a:solidFill>
                  <a:srgbClr val="1A1A2E"/>
                </a:solidFill>
              </a:rPr>
              <a:t>Safety engineers must manually triage thousands of reports annually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C59A2E"/>
                </a:solidFill>
              </a:rPr>
              <a:t>•  </a:t>
            </a:r>
            <a:r>
              <a:rPr sz="1600">
                <a:solidFill>
                  <a:srgbClr val="1A1A2E"/>
                </a:solidFill>
              </a:rPr>
              <a:t>Missed severe crashes delay investigation of potential AV system failures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C59A2E"/>
                </a:solidFill>
              </a:rPr>
              <a:t>•  </a:t>
            </a:r>
            <a:r>
              <a:rPr sz="1600">
                <a:solidFill>
                  <a:srgbClr val="1A1A2E"/>
                </a:solidFill>
              </a:rPr>
              <a:t>Goal: automatically classify incoming reports as severe or non-severe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41732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Stakeholders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2E75B6"/>
                </a:solidFill>
              </a:rPr>
              <a:t>–  </a:t>
            </a:r>
            <a:r>
              <a:rPr sz="1400">
                <a:solidFill>
                  <a:srgbClr val="1A1A2E"/>
                </a:solidFill>
              </a:rPr>
              <a:t>AV safety engineers — triage incoming SGO reports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E75B6"/>
                </a:solidFill>
              </a:rPr>
              <a:t>–  </a:t>
            </a:r>
            <a:r>
              <a:rPr sz="1400">
                <a:solidFill>
                  <a:srgbClr val="1A1A2E"/>
                </a:solidFill>
              </a:rPr>
              <a:t>NHTSA regulators — identify patterns and systemic risks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E75B6"/>
                </a:solidFill>
              </a:rPr>
              <a:t>–  </a:t>
            </a:r>
            <a:r>
              <a:rPr sz="1400">
                <a:solidFill>
                  <a:srgbClr val="1A1A2E"/>
                </a:solidFill>
              </a:rPr>
              <a:t>AV operators — reduce review burden on non-severe incidents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937760"/>
            <a:ext cx="11247120" cy="14173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109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9A2E"/>
                </a:solidFill>
              </a:rPr>
              <a:t>Key constraint: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010912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False negatives (missed severe crashes) are the primary risk — a missed severe crash may go uninvestigated, masking systemic AV failures. Precision ≥ 0.65 floor, recall maximized.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Data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</a:rPr>
              <a:t>NHTSA SGO incident reports — 4 files, 5,567 labeled incidents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  <a:gridCol w="256032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Stratum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Severe Rate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Era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ADS — archived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1,519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26.0%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Training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ADS — 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47.4%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L2 — archived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2,663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98.3%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Training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L2 — 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97.2%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06908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>
                <a:solidFill>
                  <a:srgbClr val="C59A2E"/>
                </a:solidFill>
              </a:rPr>
              <a:t>•  </a:t>
            </a:r>
            <a:r>
              <a:rPr sz="1500">
                <a:solidFill>
                  <a:srgbClr val="1A1A2E"/>
                </a:solidFill>
              </a:rPr>
              <a:t>ADS (Level 4+): Waymo, Cruise, Zoox — system controls all driving tasks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C59A2E"/>
                </a:solidFill>
              </a:rPr>
              <a:t>•  </a:t>
            </a:r>
            <a:r>
              <a:rPr sz="1500">
                <a:solidFill>
                  <a:srgbClr val="1A1A2E"/>
                </a:solidFill>
              </a:rPr>
              <a:t>L2 (driver-assist): Tesla Autopilot — human driver remains responsible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C59A2E"/>
                </a:solidFill>
              </a:rPr>
              <a:t>•  </a:t>
            </a:r>
            <a:r>
              <a:rPr sz="1500">
                <a:solidFill>
                  <a:srgbClr val="1A1A2E"/>
                </a:solidFill>
              </a:rPr>
              <a:t>Temporal split: archived era → train  |  current era →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</a:rPr>
              <a:t>ADS severe rate increased +21 pp from training to test era — the core distribution shift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Severity Label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</a:rPr>
              <a:t>Feedback #1 — OR rule combining three observable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661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55E"/>
                </a:solidFill>
              </a:rPr>
              <a:t>Injury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5B6"/>
                </a:solidFill>
              </a:rPr>
              <a:t>injury_flag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At least one person
reported injured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5661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55E"/>
                </a:solidFill>
              </a:rPr>
              <a:t>Airbag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5B6"/>
                </a:solidFill>
              </a:rPr>
              <a:t>airbag_flag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At least one airbag
deployed (Δv threshold)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417320"/>
            <a:ext cx="35661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55E"/>
                </a:solidFill>
              </a:rPr>
              <a:t>Tow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5B6"/>
                </a:solidFill>
              </a:rPr>
              <a:t>towed_flag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31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Vehicle towed from
scene (non-driveable)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03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55E"/>
                </a:solidFill>
              </a:rPr>
              <a:t>severe  =  injury_flag  OR  airbag_flag  OR  towed_flag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297680"/>
            <a:ext cx="9418320" cy="1905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89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C59A2E"/>
                </a:solidFill>
              </a:rPr>
              <a:t>•  </a:t>
            </a:r>
            <a:r>
              <a:rPr sz="1400">
                <a:solidFill>
                  <a:srgbClr val="1A1A2E"/>
                </a:solidFill>
              </a:rPr>
              <a:t>OR rule maximizes recall — any one severe indicator flags the crash for priority review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59A2E"/>
                </a:solidFill>
              </a:rPr>
              <a:t>•  </a:t>
            </a:r>
            <a:r>
              <a:rPr sz="1400">
                <a:solidFill>
                  <a:srgbClr val="1A1A2E"/>
                </a:solidFill>
              </a:rPr>
              <a:t>Asymmetric cost: missing a severe crash &gt; unnecessary review of a borderline case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59A2E"/>
                </a:solidFill>
              </a:rPr>
              <a:t>•  </a:t>
            </a:r>
            <a:r>
              <a:rPr sz="1400">
                <a:solidFill>
                  <a:srgbClr val="1A1A2E"/>
                </a:solidFill>
              </a:rPr>
              <a:t>No outcome words used as features — those words ARE the label (data leakage prevention)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Train / Test Split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</a:rPr>
              <a:t>Feedback #2 — Temporal split simulates real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77440"/>
            <a:ext cx="68580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ARCHIVED ERA  →  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377440"/>
            <a:ext cx="4251960" cy="64008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4231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CURRENT ERA  → 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45059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55E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</a:rPr>
              <a:t>Within training: 75 / 25 stratified validation split for threshold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49039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>
                <a:solidFill>
                  <a:srgbClr val="C59A2E"/>
                </a:solidFill>
              </a:rPr>
              <a:t>•  </a:t>
            </a:r>
            <a:r>
              <a:rPr sz="1500">
                <a:solidFill>
                  <a:srgbClr val="1A1A2E"/>
                </a:solidFill>
              </a:rPr>
              <a:t>Random 80/20 split would allow future patterns to leak into training — artificial AUC inflation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C59A2E"/>
                </a:solidFill>
              </a:rPr>
              <a:t>•  </a:t>
            </a:r>
            <a:r>
              <a:rPr sz="1500">
                <a:solidFill>
                  <a:srgbClr val="1A1A2E"/>
                </a:solidFill>
              </a:rPr>
              <a:t>Threshold tuned on validation split; applied to test set exactly once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C59A2E"/>
                </a:solidFill>
              </a:rPr>
              <a:t>•  </a:t>
            </a:r>
            <a:r>
              <a:rPr sz="1500">
                <a:solidFill>
                  <a:srgbClr val="1A1A2E"/>
                </a:solidFill>
              </a:rPr>
              <a:t>ADS severe rate: 26% train → 47% test  (+21 pp shift) — core modeling challenge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C59A2E"/>
                </a:solidFill>
              </a:rPr>
              <a:t>•  </a:t>
            </a:r>
            <a:r>
              <a:rPr sz="1500">
                <a:solidFill>
                  <a:srgbClr val="1A1A2E"/>
                </a:solidFill>
              </a:rPr>
              <a:t>L2 severe rate: 98% train → 97% test  (stable — temporal shift is an ADS-specific problem)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</a:rPr>
              <a:t>Three algorithms × two automation levels = 6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247120" cy="7315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Pooled LR (single model on ADS + L2):  0 severe ADS crashes predicted on test set — 100% false-negative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36576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365760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350008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834640"/>
            <a:ext cx="3429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Linear boundary
C = 0.1, class_weight = balanced
Works for L2 (near-linearly separable)
Fails for ADS (non-linear interactions)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7" y="2331720"/>
            <a:ext cx="36576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7" y="2331720"/>
            <a:ext cx="365760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350008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834640"/>
            <a:ext cx="3429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Ensemble of decision trees
300 trees, sqrt features
class_weight = balanced
Captures non-linear flag interactions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1896" y="2331720"/>
            <a:ext cx="36576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1896" y="2331720"/>
            <a:ext cx="3657600" cy="438912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350008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834640"/>
            <a:ext cx="3429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Gradient-boosted trees
200 trees, lr = 0.05, depth = 5
scale_pos_weight for imbalance
Best ADS model — AUC 0.921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</a:rPr>
              <a:t>Feature sets: ADS uses tabular + 21 narrative flags. L2 uses tabular only. Threshold selected on validation split (precision floor ≥ 0.65).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Narrative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</a:rPr>
              <a:t>21 binary scenario flags from free-text incident descriptions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C59A2E"/>
                </a:solidFill>
              </a:rPr>
              <a:t>•  </a:t>
            </a:r>
            <a:r>
              <a:rPr sz="1500">
                <a:solidFill>
                  <a:srgbClr val="1A1A2E"/>
                </a:solidFill>
              </a:rPr>
              <a:t>Tabular features give AUC ≈ 0.50 for ADS — essentially random discrimination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C59A2E"/>
                </a:solidFill>
              </a:rPr>
              <a:t>•  </a:t>
            </a:r>
            <a:r>
              <a:rPr sz="1500">
                <a:solidFill>
                  <a:srgbClr val="1A1A2E"/>
                </a:solidFill>
              </a:rPr>
              <a:t>Narrative captures crash dynamics: was the AV moving? Did another vehicle approach from behind?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C59A2E"/>
                </a:solidFill>
              </a:rPr>
              <a:t>•  </a:t>
            </a:r>
            <a:r>
              <a:rPr sz="1500">
                <a:solidFill>
                  <a:srgbClr val="1A1A2E"/>
                </a:solidFill>
              </a:rPr>
              <a:t>No outcome words used (injured, towed, airbag) — those ARE the label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83464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Feature Set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AUC (LR on ADS)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Tabular only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0.500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Narrative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Tabular + Narrative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0.531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Example flags: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2E75B6"/>
                </a:solidFill>
              </a:rPr>
              <a:t>–  </a:t>
            </a:r>
            <a:r>
              <a:rPr sz="1300">
                <a:solidFill>
                  <a:srgbClr val="1A1A2E"/>
                </a:solidFill>
              </a:rPr>
              <a:t>nav_av_stopped  ·  nav_rear_approach  ·  nav_at_intersection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E75B6"/>
                </a:solidFill>
              </a:rPr>
              <a:t>–  </a:t>
            </a:r>
            <a:r>
              <a:rPr sz="1300">
                <a:solidFill>
                  <a:srgbClr val="1A1A2E"/>
                </a:solidFill>
              </a:rPr>
              <a:t>nav_vulnerable_user  ·  nav_av_disengaged  ·  nav_minor_damage_lang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</a:rPr>
              <a:t>Regex patterns applied after stripping Waymo SGO boilerplate headers. 84% of ADS incidents have usable narrative coverage.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Stratified Model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</a:rPr>
              <a:t>XGBoost is the best ADS model — LR sufficient for L2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554480"/>
                <a:gridCol w="1554480"/>
                <a:gridCol w="1463040"/>
                <a:gridCol w="1463040"/>
                <a:gridCol w="13716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FN-rate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LR — ADS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0.499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0.845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0.627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0.531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15.5%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RF —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XGB — ADS ★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0.831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0.922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0.874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0.921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LR — L2 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RF — L2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0.972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0.986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0.836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XGB — 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292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C59A2E"/>
                </a:solidFill>
              </a:rPr>
              <a:t>★  </a:t>
            </a:r>
            <a:r>
              <a:rPr sz="1400">
                <a:solidFill>
                  <a:srgbClr val="1A1A2E"/>
                </a:solidFill>
              </a:rPr>
              <a:t>XGB ADS: +0.39 AUC over LR (0.531 → 0.921) — non-linear narrative interactions are critical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59A2E"/>
                </a:solidFill>
              </a:rPr>
              <a:t>★  </a:t>
            </a:r>
            <a:r>
              <a:rPr sz="1400">
                <a:solidFill>
                  <a:srgbClr val="1A1A2E"/>
                </a:solidFill>
              </a:rPr>
              <a:t>LR L2: near-perfect due to 97–98% severe rate — linear boundary is sufficient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2E75B6"/>
                </a:solidFill>
              </a:rPr>
              <a:t>–  </a:t>
            </a:r>
            <a:r>
              <a:rPr sz="1400">
                <a:solidFill>
                  <a:srgbClr val="1A1A2E"/>
                </a:solidFill>
              </a:rPr>
              <a:t>Pooled LR (baseline): 283 missed severe ADS crashes → 0% recall on ADS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False Negative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</a:rPr>
              <a:t>Feedback #5 — Who did the model miss, and why?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5778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3560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XGB — ADS (19 missed, 6.7% FN-rate)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57784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848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Roadway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848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Street (84%)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770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Crash With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770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SUV (32%)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83280"/>
            <a:ext cx="557784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456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SV Movement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456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Stopped (63%)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69080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1422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CP Movement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1422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Straight / Backing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417320"/>
            <a:ext cx="5577840" cy="457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143560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LR — L2 (19 missed, 2.5% FN-rate)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011680"/>
            <a:ext cx="557784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20848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Roadway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0848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Highway (74%)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697480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70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Crash With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770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Other / narrative (37%)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383280"/>
            <a:ext cx="557784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456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SV Movement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456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Proceeding straight (42%)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4069080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1422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CP Movement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1422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Proceeding straight (79%)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937760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C59A2E"/>
                </a:solidFill>
              </a:rPr>
              <a:t>•  </a:t>
            </a:r>
            <a:r>
              <a:rPr sz="1300">
                <a:solidFill>
                  <a:srgbClr val="1A1A2E"/>
                </a:solidFill>
              </a:rPr>
              <a:t>ADS: stopped AV rear-ended by SUV — no strong narrative severity signal → missed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C59A2E"/>
                </a:solidFill>
              </a:rPr>
              <a:t>•  </a:t>
            </a:r>
            <a:r>
              <a:rPr sz="1300">
                <a:solidFill>
                  <a:srgbClr val="1A1A2E"/>
                </a:solidFill>
              </a:rPr>
              <a:t>L2: high-speed highway, both straight — low-severity training distribution → missed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C59A2E"/>
                </a:solidFill>
              </a:rPr>
              <a:t>•  </a:t>
            </a:r>
            <a:r>
              <a:rPr sz="1300">
                <a:solidFill>
                  <a:srgbClr val="1A1A2E"/>
                </a:solidFill>
              </a:rPr>
              <a:t>Mitigation: hard rule — any towed_flag = 1 report enters Priority Queue regardless of model score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C59A2E"/>
                </a:solidFill>
              </a:rPr>
              <a:t>•  </a:t>
            </a:r>
            <a:r>
              <a:rPr sz="1300">
                <a:solidFill>
                  <a:srgbClr val="1A1A2E"/>
                </a:solidFill>
              </a:rPr>
              <a:t>Stratified models reduced total FN by 94%  (304 pooled → 38 stratified)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ADS Crash Scenario Clusters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</a:rPr>
              <a:t>Feedback #6 — K-means (k=7) on narrative + tabular features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011680"/>
                <a:gridCol w="51206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% of ADS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Severe Rate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C5  ⬆ priority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21.1%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47.8%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AV moving at impact — struck by other vehicle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 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41.5%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AV hit fixed object (parking lot / disengagement)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C0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32.7%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Other vehicle struck stationary AV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 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AV struck other party (AV-at-fault)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C2  baseline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56.0%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26.0%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Typical street crash (modal scenario)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C4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 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Animal strike — no injuries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29200"/>
            <a:ext cx="11247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C59A2E"/>
                </a:solidFill>
              </a:rPr>
              <a:t>•  </a:t>
            </a:r>
            <a:r>
              <a:rPr sz="1400">
                <a:solidFill>
                  <a:srgbClr val="1A1A2E"/>
                </a:solidFill>
              </a:rPr>
              <a:t>k selected by silhouette score (k=7 = 0.098) — scanned k ∈ {3…8}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59A2E"/>
                </a:solidFill>
              </a:rPr>
              <a:t>•  </a:t>
            </a:r>
            <a:r>
              <a:rPr sz="1400">
                <a:solidFill>
                  <a:srgbClr val="1A1A2E"/>
                </a:solidFill>
              </a:rPr>
              <a:t>Labels derived from narrative flag lift above global mean (not just highest absolute rate)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59A2E"/>
                </a:solidFill>
              </a:rPr>
              <a:t>•  </a:t>
            </a:r>
            <a:r>
              <a:rPr sz="1400">
                <a:solidFill>
                  <a:srgbClr val="1A1A2E"/>
                </a:solidFill>
              </a:rPr>
              <a:t>C5 (21% of ADS, 48% severe): AV was moving — highest kinetic energy, highest risk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59A2E"/>
                </a:solidFill>
              </a:rPr>
              <a:t>•  </a:t>
            </a:r>
            <a:r>
              <a:rPr sz="1400">
                <a:solidFill>
                  <a:srgbClr val="1A1A2E"/>
                </a:solidFill>
              </a:rPr>
              <a:t>C4 animal strikes (1%): 0% severe — can be deprioritized / routed to perception 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System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</a:rPr>
              <a:t>Feedback #7 — Translating model findings into concrete safety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59A2E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Triage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92024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Route incoming reports through automation-level detector first, then the appropriate model (XGB for ADS, LR/RF for L2). Hard rule: towed_flag = 1 → Priority Queue regardless of score.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0896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154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59A2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Prioritize C5 &amp; C1 clusters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61188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AV-moving-at-impact (C5, 48% severe) and parking-lot/fixed-object (C1, 42% severe) get 48-hour senior review. All other clusters enter standard 30-day queue.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006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4846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59A2E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Audit C3 (AV-at-fault) separately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30352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ADS vehicle struck another party in 77 incidents — cross-reference with disengagement logs and sensor failure reports for potential control-system failures.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141732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59A2E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463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Zero-FN L2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192024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Switch L2 model to RF or XGB: 0 false negatives at cost of 22 extra alarms (2.8% of test set). Highway L2 severe crashes are too high-risk to miss.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310896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3154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59A2E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154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Monitor ADS distribution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361188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ADS severe rate rose +21 pp in one era. Set retraining trigger at rolling-90-day severe rate &gt; 55%.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8006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4846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59A2E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846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Cluster tags on every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530352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Attach scenario cluster label (C0–C6) to each ADS report as metadata — gives reviewers instant context without reading the full narrative.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55E"/>
                </a:solidFill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247120" cy="25400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</a:rPr>
              <a:t>Feedback #3 — Reporting bias, data scarcity, and generalization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9319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Reporting bias (ADS vs L2 thresholds differ)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L2 non-severe likely undercounted; 98% severe rate is a regulatory artifact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Report L2 metrics alongside distribution context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ADS distribution shift (+21 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May be a data artifact, not a genuine safety 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Monitor rolling severe rate; retrain at &gt; 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ADS data scarcity (395 training positives)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Limits fine-grained pattern learning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More operators / reporting periods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Narrative coverage (84%)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CBI-redacted rows → zero nav_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nav_has_narrative flag in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</a:rPr>
                        <a:t>L2 near-degenerate (2.8% non-severe)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Precision/F1 sensitive to single-digit count changes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</a:rPr>
                        <a:t>Report AUC as primary L2 metric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</a:rPr>
              <a:t>Models are operational triage tools for reported SGO incidents — not general-purpose AV safety predictors.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27048"/>
            <a:ext cx="164592" cy="164592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Pooled model fails on 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417320"/>
            <a:ext cx="6675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</a:rPr>
              <a:t>100% false-negative rate — learned a shortcut that breaks on distribution shift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96312"/>
            <a:ext cx="164592" cy="164592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8658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Stratified XGBoost (ADS)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386584"/>
            <a:ext cx="6675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</a:rPr>
              <a:t>AUC 0.921 | Precision 0.831 | Recall 0.922 | FN-rate 6.7% — non-linear narrative interactions are essential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465576"/>
            <a:ext cx="164592" cy="164592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5584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LR / RF sufficient for 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355848"/>
            <a:ext cx="6675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</a:rPr>
              <a:t>Near-perfect precision and recall on a 97%-severe distribution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34840"/>
            <a:ext cx="164592" cy="164592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2511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Clusters → actionable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325112"/>
            <a:ext cx="6675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</a:rPr>
              <a:t>C5 (AV moving, 48% severe) is highest-risk; C4 (animal strikes) can be deprioritized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404104"/>
            <a:ext cx="164592" cy="164592"/>
          </a:xfrm>
          <a:prstGeom prst="rect">
            <a:avLst/>
          </a:prstGeom>
          <a:solidFill>
            <a:srgbClr val="C5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294376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Total FN reduction: 304 → 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294376"/>
            <a:ext cx="6675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</a:rPr>
              <a:t>Stratified pipeline recovers all 283 previously missed severe ADS crashes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